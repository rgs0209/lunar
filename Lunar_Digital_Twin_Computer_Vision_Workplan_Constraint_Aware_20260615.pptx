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4572000" cy="29260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A6770"/>
                </a:solidFill>
                <a:latin typeface="Aptos"/>
              </a:defRPr>
            </a:pPr>
            <a:r>
              <a:rPr sz="1300" b="0">
                <a:solidFill>
                  <a:srgbClr val="445260"/>
                </a:solidFill>
                <a:latin typeface="Arial"/>
              </a:rPr>
              <a:t>National Institute of Technology Tiruchirappalli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3291840" cy="29260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6400800" cy="12344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92A3A"/>
                </a:solidFill>
                <a:latin typeface="Arial"/>
              </a:rPr>
              <a:t>Lunar South Pole Digital Twin | Constraint-Aware Rover Vision Workplan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6766560" cy="29260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45260"/>
                </a:solidFill>
                <a:latin typeface="Arial"/>
              </a:rPr>
              <a:t>Rover-view perception, battery-aware navigation, and local decision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1645920" cy="310896"/>
          </a:xfrm>
          <a:prstGeom prst="round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100" b="1">
                <a:solidFill>
                  <a:srgbClr val="FFFFFF"/>
                </a:solidFill>
                <a:latin typeface="Arial"/>
              </a:rPr>
              <a:t>Problem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3300984"/>
            <a:ext cx="5303520" cy="29260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2A3A"/>
                </a:solidFill>
                <a:latin typeface="Arial"/>
              </a:rPr>
              <a:t>Vision-based terrain hazard and confidence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30752"/>
            <a:ext cx="1645920" cy="310896"/>
          </a:xfrm>
          <a:prstGeom prst="round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100" b="1">
                <a:solidFill>
                  <a:srgbClr val="FFFFFF"/>
                </a:solidFill>
                <a:latin typeface="Arial"/>
              </a:rPr>
              <a:t>Problem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3785615"/>
            <a:ext cx="5303520" cy="29260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2A3A"/>
                </a:solidFill>
                <a:latin typeface="Arial"/>
              </a:rPr>
              <a:t>Battery- and constraint-aware local navigation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A3A"/>
                </a:solidFill>
                <a:latin typeface="Arial"/>
              </a:rPr>
              <a:t>Extension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15468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73152" cy="1325880"/>
          </a:xfrm>
          <a:prstGeom prst="rect">
            <a:avLst/>
          </a:prstGeom>
          <a:solidFill>
            <a:srgbClr val="B2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252728"/>
            <a:ext cx="28346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55064"/>
            <a:ext cx="2834640" cy="704087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A global path may still fail locally if the rover has low battery, shadow exposure, compute limits, or uncertain visual perception.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315468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73152" cy="132588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898648"/>
            <a:ext cx="28346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300984"/>
            <a:ext cx="2834640" cy="704087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Use simulated rover-view observations with battery, energy, shadow, confidence, and compute constraints.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315468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73152" cy="114300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4544568"/>
            <a:ext cx="28346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946904"/>
            <a:ext cx="2834640" cy="521207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A constraint-aware rover decision layer that checks each local move before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143000"/>
            <a:ext cx="6949440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143000"/>
            <a:ext cx="73152" cy="4434840"/>
          </a:xfrm>
          <a:prstGeom prst="rect">
            <a:avLst/>
          </a:prstGeom>
          <a:solidFill>
            <a:srgbClr val="1F3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1252728"/>
            <a:ext cx="662940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Why This Extension Is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1655064"/>
            <a:ext cx="6629400" cy="3813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Intern 1-4 modules create global fusion, confidence, target, and policy outputs.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The next step is to test a rover inside that digital twin with local perception and realistic operating constraints.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The study uses simulated rover-view observations derived from orbital/digital-twin layers.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F3953"/>
                </a:solidFill>
                <a:latin typeface="Aptos Display"/>
              </a:defRPr>
            </a:pPr>
            <a:r>
              <a:rPr sz="2500" b="1">
                <a:solidFill>
                  <a:srgbClr val="192A3A"/>
                </a:solidFill>
                <a:latin typeface="Arial"/>
              </a:rPr>
              <a:t>Research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9834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141732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27048"/>
            <a:ext cx="46634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Problem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929384"/>
            <a:ext cx="4663440" cy="7955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Can a rover classify local terrain as safe, risky, shadowed, or uncertain from a simulated rover-view scene?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9834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73152" cy="141732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527048"/>
            <a:ext cx="46634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Problem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929384"/>
            <a:ext cx="4663440" cy="7955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Can a rover choose local actions while respecting battery, energy, shadow, confidence, and compute constraints?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74720"/>
            <a:ext cx="105613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474720"/>
            <a:ext cx="73152" cy="1325880"/>
          </a:xfrm>
          <a:prstGeom prst="rect">
            <a:avLst/>
          </a:prstGeom>
          <a:solidFill>
            <a:srgbClr val="1F3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584448"/>
            <a:ext cx="1024128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Common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986783"/>
            <a:ext cx="10241280" cy="704087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Can local rover-view perception reduce hazard exposure and energy risk without losing the selected science objective?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5440680"/>
            <a:ext cx="2011680" cy="310896"/>
          </a:xfrm>
          <a:prstGeom prst="roundRect">
            <a:avLst/>
          </a:prstGeom>
          <a:solidFill>
            <a:srgbClr val="2C60A0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050" b="1">
                <a:solidFill>
                  <a:srgbClr val="FFFFFF"/>
                </a:solidFill>
                <a:latin typeface="Arial"/>
              </a:rPr>
              <a:t>local perception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440680"/>
            <a:ext cx="2011680" cy="310896"/>
          </a:xfrm>
          <a:prstGeom prst="roundRect">
            <a:avLst/>
          </a:prstGeom>
          <a:solidFill>
            <a:srgbClr val="1B807A"/>
          </a:solidFill>
          <a:ln>
            <a:solidFill>
              <a:srgbClr val="1B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1050" b="1">
                <a:solidFill>
                  <a:srgbClr val="FFFFFF"/>
                </a:solidFill>
                <a:latin typeface="Arial"/>
              </a:rPr>
              <a:t>confidence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5440680"/>
            <a:ext cx="2011680" cy="310896"/>
          </a:xfrm>
          <a:prstGeom prst="roundRect">
            <a:avLst/>
          </a:prstGeom>
          <a:solidFill>
            <a:srgbClr val="208454"/>
          </a:solidFill>
          <a:ln>
            <a:solidFill>
              <a:srgbClr val="208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battery-aware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A3A"/>
                </a:solidFill>
                <a:latin typeface="Arial"/>
              </a:rPr>
              <a:t>Starting Inputs And Rover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251460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100584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207007"/>
            <a:ext cx="219456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Intern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09344"/>
            <a:ext cx="219456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fused terrain and semantic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251460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73152" cy="1005840"/>
          </a:xfrm>
          <a:prstGeom prst="rect">
            <a:avLst/>
          </a:prstGeom>
          <a:solidFill>
            <a:srgbClr val="1B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441448"/>
            <a:ext cx="219456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Intern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843784"/>
            <a:ext cx="219456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confidence classes and invalid areas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251460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73152" cy="100584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675887"/>
            <a:ext cx="219456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Intern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078224"/>
            <a:ext cx="219456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science target and reward regions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00600"/>
            <a:ext cx="251460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00600"/>
            <a:ext cx="73152" cy="1005840"/>
          </a:xfrm>
          <a:prstGeom prst="rect">
            <a:avLst/>
          </a:prstGeom>
          <a:solidFill>
            <a:srgbClr val="CC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910328"/>
            <a:ext cx="219456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Intern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312664"/>
            <a:ext cx="219456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grid-world, policies, and RL environment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  <p:pic>
        <p:nvPicPr>
          <p:cNvPr id="25" name="Picture 24" descr="constraint_aware_rover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868680"/>
            <a:ext cx="8257031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A3A"/>
                </a:solidFill>
                <a:latin typeface="Arial"/>
              </a:rPr>
              <a:t>Two Constraint-Aware Vision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983480" cy="14630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146304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344168"/>
            <a:ext cx="46634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2A3A"/>
                </a:solidFill>
                <a:latin typeface="Arial"/>
              </a:rPr>
              <a:t>Local Terrain Perception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46504"/>
            <a:ext cx="4663440" cy="84124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safe / risky / shadowed / uncertain terrain with confidence | Problem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4983480" cy="14630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73152" cy="146304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344168"/>
            <a:ext cx="46634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2A3A"/>
                </a:solidFill>
                <a:latin typeface="Arial"/>
              </a:rPr>
              <a:t>Constraint-Aware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746504"/>
            <a:ext cx="4663440" cy="84124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move / scan / replan / stop / return under battery and risk limits | Problem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4983480" cy="14630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73152" cy="1463040"/>
          </a:xfrm>
          <a:prstGeom prst="rect">
            <a:avLst/>
          </a:prstGeom>
          <a:solidFill>
            <a:srgbClr val="CC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675887"/>
            <a:ext cx="46634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Shared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078224"/>
            <a:ext cx="4663440" cy="84124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Python grid-world with raster crops, energy model, and policy loop | Common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66160"/>
            <a:ext cx="4983480" cy="14630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566160"/>
            <a:ext cx="73152" cy="1463040"/>
          </a:xfrm>
          <a:prstGeom prst="rect">
            <a:avLst/>
          </a:prstGeom>
          <a:solidFill>
            <a:srgbClr val="1B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1" y="3675887"/>
            <a:ext cx="46634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Integration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4078224"/>
            <a:ext cx="4663440" cy="84124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compare global, vision-only, and battery-aware rover policies | Common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A3A"/>
                </a:solidFill>
                <a:latin typeface="Arial"/>
              </a:rPr>
              <a:t>Problem 1: Local Terrain Perception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384048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60120"/>
            <a:ext cx="73152" cy="114300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069848"/>
            <a:ext cx="35204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472184"/>
            <a:ext cx="3520440" cy="52120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Can a rover identify local hazard class and perception confidence from a simulated rover-view scene?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31720"/>
            <a:ext cx="384048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73152" cy="91440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35204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43784"/>
            <a:ext cx="3520440" cy="29260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LROC image, LROC shadow mask, LOLA slope/roughness, Intern 1 terrain context, Intern 2 confidence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384048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74720"/>
            <a:ext cx="73152" cy="91440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584448"/>
            <a:ext cx="35204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986783"/>
            <a:ext cx="3520440" cy="29260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local hazard-class map, confidence table, and false-safe 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960120"/>
            <a:ext cx="6355080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960120"/>
            <a:ext cx="73152" cy="1828800"/>
          </a:xfrm>
          <a:prstGeom prst="rect">
            <a:avLst/>
          </a:prstGeom>
          <a:solidFill>
            <a:srgbClr val="1F3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1" y="1069848"/>
            <a:ext cx="60350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Main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1" y="1472184"/>
            <a:ext cx="6035040" cy="120700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Generate local rover-view crops.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Extract texture, edge, contrast, shadow fraction, and uncertainty cues.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Classify each view as safe, risky, shadowed, or uncertain.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154680"/>
            <a:ext cx="635508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3154680"/>
            <a:ext cx="73152" cy="2011680"/>
          </a:xfrm>
          <a:prstGeom prst="rect">
            <a:avLst/>
          </a:prstGeom>
          <a:solidFill>
            <a:srgbClr val="CC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1" y="3264408"/>
            <a:ext cx="60350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1" y="3666744"/>
            <a:ext cx="6035040" cy="138988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rover-view crop examples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hazard + confidence map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confusion matrix / false-safe rate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comparison with LOLA terrain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A3A"/>
                </a:solidFill>
                <a:latin typeface="Arial"/>
              </a:rPr>
              <a:t>Problem 1: Rover-View Terrain Perception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412480" cy="256032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rgbClr val="5A6770"/>
                </a:solidFill>
                <a:latin typeface="Aptos"/>
              </a:defRPr>
            </a:pPr>
            <a:r>
              <a:rPr sz="1100" b="0">
                <a:solidFill>
                  <a:srgbClr val="445260"/>
                </a:solidFill>
                <a:latin typeface="Arial"/>
              </a:rPr>
              <a:t>Simulated local perception from digital-twin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  <p:pic>
        <p:nvPicPr>
          <p:cNvPr id="10" name="Picture 9" descr="rover_view_hazard_per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069848"/>
            <a:ext cx="9198864" cy="5175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F3953"/>
                </a:solidFill>
                <a:latin typeface="Aptos Display"/>
              </a:defRPr>
            </a:pPr>
            <a:r>
              <a:rPr sz="2500" b="1">
                <a:solidFill>
                  <a:srgbClr val="192A3A"/>
                </a:solidFill>
                <a:latin typeface="Arial"/>
              </a:rPr>
              <a:t>Problem 1: Method And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31546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73152" cy="141732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344168"/>
            <a:ext cx="28346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OpenCV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746504"/>
            <a:ext cx="2834640" cy="7955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texture, edges, contrast, shadow fraction, and uncertainty cues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34440"/>
            <a:ext cx="31546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234440"/>
            <a:ext cx="73152" cy="1417320"/>
          </a:xfrm>
          <a:prstGeom prst="rect">
            <a:avLst/>
          </a:prstGeom>
          <a:solidFill>
            <a:srgbClr val="1B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344168"/>
            <a:ext cx="28346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Classifier 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746504"/>
            <a:ext cx="2834640" cy="7955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use ML only if rule/feature methods are insufficient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1546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73152" cy="141732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344168"/>
            <a:ext cx="28346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Ground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746504"/>
            <a:ext cx="2834640" cy="7955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LOLA slope/roughness, shadow mask, and confidence labels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657600"/>
            <a:ext cx="4480560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3657600"/>
            <a:ext cx="73152" cy="1234440"/>
          </a:xfrm>
          <a:prstGeom prst="rect">
            <a:avLst/>
          </a:prstGeom>
          <a:solidFill>
            <a:srgbClr val="B2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3312" y="3767328"/>
            <a:ext cx="416052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Main Risk To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169664"/>
            <a:ext cx="4160520" cy="6126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false-safe output: rover view says safe but terrain/shadow labels say risky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657600"/>
            <a:ext cx="4480560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657600"/>
            <a:ext cx="73152" cy="1234440"/>
          </a:xfrm>
          <a:prstGeom prst="rect">
            <a:avLst/>
          </a:prstGeom>
          <a:solidFill>
            <a:srgbClr val="CC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1" y="3767328"/>
            <a:ext cx="416052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1" y="4169664"/>
            <a:ext cx="4160520" cy="6126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accuracy, F1, false-safe rate, confidence agreement, and calibration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A3A"/>
                </a:solidFill>
                <a:latin typeface="Arial"/>
              </a:rPr>
              <a:t>Problem 2: Battery-Aware Local Navigation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384048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60120"/>
            <a:ext cx="73152" cy="114300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069848"/>
            <a:ext cx="35204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472184"/>
            <a:ext cx="3520440" cy="52120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Can a rover make safer local navigation decisions while respecting battery and operating constraints?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31720"/>
            <a:ext cx="384048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73152" cy="91440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35204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43784"/>
            <a:ext cx="3520440" cy="29260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Intern 4 grid-world, Intern 2 confidence map, Intern 3 targets, local hazard labels, battery/energy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384048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74720"/>
            <a:ext cx="73152" cy="91440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584448"/>
            <a:ext cx="35204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986783"/>
            <a:ext cx="3520440" cy="29260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original path vs vision-only vs battery-aware path comparison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960120"/>
            <a:ext cx="6355080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960120"/>
            <a:ext cx="73152" cy="1828800"/>
          </a:xfrm>
          <a:prstGeom prst="rect">
            <a:avLst/>
          </a:prstGeom>
          <a:solidFill>
            <a:srgbClr val="1F3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1" y="1069848"/>
            <a:ext cx="60350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Main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1" y="1472184"/>
            <a:ext cx="6035040" cy="120700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Start from A*, Q-learning, or rule-based policy output.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Check the next few cells using local perception, battery reserve, shadow risk, and confidence.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Choose local action: move, scan, replan, stop, or return.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154680"/>
            <a:ext cx="635508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3154680"/>
            <a:ext cx="73152" cy="2011680"/>
          </a:xfrm>
          <a:prstGeom prst="rect">
            <a:avLst/>
          </a:prstGeom>
          <a:solidFill>
            <a:srgbClr val="CC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1" y="3264408"/>
            <a:ext cx="60350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1" y="3666744"/>
            <a:ext cx="6035040" cy="138988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corrected path examples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battery profile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constraint violation table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hazard exposure and science-return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A3A"/>
                </a:solidFill>
                <a:latin typeface="Arial"/>
              </a:rPr>
              <a:t>Problem 2: Battery-Aware Path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412480" cy="256032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Compare shortest, safest, and battery-aware local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  <p:pic>
        <p:nvPicPr>
          <p:cNvPr id="10" name="Picture 9" descr="battery_aware_path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069848"/>
            <a:ext cx="9198864" cy="51755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A3A"/>
                </a:solidFill>
                <a:latin typeface="Arial"/>
              </a:rPr>
              <a:t>Problem 2: Policy And Constraint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32004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73152" cy="132588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344168"/>
            <a:ext cx="288036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2A3A"/>
                </a:solidFill>
                <a:latin typeface="Arial"/>
              </a:rPr>
              <a:t>Original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746504"/>
            <a:ext cx="2880360" cy="70408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A*, shortest path, safest path, science-priority policy, or Q-learning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234440"/>
            <a:ext cx="32004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234440"/>
            <a:ext cx="73152" cy="132588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344168"/>
            <a:ext cx="288036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2A3A"/>
                </a:solidFill>
                <a:latin typeface="Arial"/>
              </a:rPr>
              <a:t>Vision-Only 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46504"/>
            <a:ext cx="2880360" cy="70408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same global goal, but local moves corrected using perception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34440"/>
            <a:ext cx="32004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73152" cy="1325880"/>
          </a:xfrm>
          <a:prstGeom prst="rect">
            <a:avLst/>
          </a:prstGeom>
          <a:solidFill>
            <a:srgbClr val="CC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344168"/>
            <a:ext cx="288036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2A3A"/>
                </a:solidFill>
                <a:latin typeface="Arial"/>
              </a:rPr>
              <a:t>Battery-Aware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746504"/>
            <a:ext cx="2880360" cy="70408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uses perception plus energy, shadow, confidence, and reserve constraints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94760"/>
            <a:ext cx="46634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794760"/>
            <a:ext cx="73152" cy="1143000"/>
          </a:xfrm>
          <a:prstGeom prst="rect">
            <a:avLst/>
          </a:prstGeom>
          <a:solidFill>
            <a:srgbClr val="1F3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" y="3904488"/>
            <a:ext cx="434340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306824"/>
            <a:ext cx="4343400" cy="52120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Compare hazard exposure, energy use, path cost, travel distance, success rate, and science return.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94760"/>
            <a:ext cx="46634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794760"/>
            <a:ext cx="73152" cy="1143000"/>
          </a:xfrm>
          <a:prstGeom prst="rect">
            <a:avLst/>
          </a:prstGeom>
          <a:solidFill>
            <a:srgbClr val="B25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904488"/>
            <a:ext cx="434340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Constraint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306824"/>
            <a:ext cx="4343400" cy="52120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Do not let local correction violate confidence, slope, shadow, battery-reserve, or compute limits.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F3953"/>
                </a:solidFill>
                <a:latin typeface="Aptos Display"/>
              </a:defRPr>
            </a:pPr>
            <a:r>
              <a:rPr sz="2500" b="1">
                <a:solidFill>
                  <a:srgbClr val="192A3A"/>
                </a:solidFill>
                <a:latin typeface="Arial"/>
              </a:rPr>
              <a:t>Integration With Intern 1-4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60604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141732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344168"/>
            <a:ext cx="228600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Intern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46504"/>
            <a:ext cx="2286000" cy="79552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2A323A"/>
                </a:solidFill>
                <a:latin typeface="Aptos"/>
              </a:defRPr>
            </a:pPr>
            <a:r>
              <a:rPr sz="1200" b="0">
                <a:solidFill>
                  <a:srgbClr val="445260"/>
                </a:solidFill>
                <a:latin typeface="Arial"/>
              </a:rPr>
              <a:t>fused layers supply semantic terrain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234440"/>
            <a:ext cx="260604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234440"/>
            <a:ext cx="73152" cy="1417320"/>
          </a:xfrm>
          <a:prstGeom prst="rect">
            <a:avLst/>
          </a:prstGeom>
          <a:solidFill>
            <a:srgbClr val="1B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1" y="1344168"/>
            <a:ext cx="228600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Intern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1746504"/>
            <a:ext cx="2286000" cy="79552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2A323A"/>
                </a:solidFill>
                <a:latin typeface="Aptos"/>
              </a:defRPr>
            </a:pPr>
            <a:r>
              <a:rPr sz="1200" b="0">
                <a:solidFill>
                  <a:srgbClr val="445260"/>
                </a:solidFill>
                <a:latin typeface="Arial"/>
              </a:rPr>
              <a:t>confidence classes define trust and invalid areas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234440"/>
            <a:ext cx="260604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234440"/>
            <a:ext cx="73152" cy="141732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1" y="1344168"/>
            <a:ext cx="228600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Intern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1" y="1746504"/>
            <a:ext cx="2286000" cy="79552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2A323A"/>
                </a:solidFill>
                <a:latin typeface="Aptos"/>
              </a:defRPr>
            </a:pPr>
            <a:r>
              <a:rPr sz="1200" b="0">
                <a:solidFill>
                  <a:srgbClr val="445260"/>
                </a:solidFill>
                <a:latin typeface="Arial"/>
              </a:rPr>
              <a:t>science targets define goal/reward regions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234440"/>
            <a:ext cx="260604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234440"/>
            <a:ext cx="73152" cy="1417320"/>
          </a:xfrm>
          <a:prstGeom prst="rect">
            <a:avLst/>
          </a:prstGeom>
          <a:solidFill>
            <a:srgbClr val="CC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344168"/>
            <a:ext cx="228600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Intern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1746504"/>
            <a:ext cx="2286000" cy="79552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2A323A"/>
                </a:solidFill>
                <a:latin typeface="Aptos"/>
              </a:defRPr>
            </a:pPr>
            <a:r>
              <a:rPr sz="1200" b="0">
                <a:solidFill>
                  <a:srgbClr val="445260"/>
                </a:solidFill>
                <a:latin typeface="Arial"/>
              </a:rPr>
              <a:t>grid-world policy supplies the original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3794760"/>
            <a:ext cx="8458200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4519" y="3794760"/>
            <a:ext cx="73152" cy="1234440"/>
          </a:xfrm>
          <a:prstGeom prst="rect">
            <a:avLst/>
          </a:prstGeom>
          <a:solidFill>
            <a:srgbClr val="1F3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39112" y="3904488"/>
            <a:ext cx="813816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Integration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39112" y="4306824"/>
            <a:ext cx="8138160" cy="61264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A rover-local decision module that checks global policy outputs using perception, confidence, battery, energy, and operating constraints before each movement.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A3A"/>
                </a:solidFill>
                <a:latin typeface="Arial"/>
              </a:rPr>
              <a:t>Simulation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06324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27048"/>
            <a:ext cx="274320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Main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29384"/>
            <a:ext cx="2743200" cy="7955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Python custom grid-world or Gymnasium-style 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306324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73152" cy="141732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47288"/>
            <a:ext cx="274320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Computer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849624"/>
            <a:ext cx="2743200" cy="79552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OpenCV and scikit-image for local crops, edges, texture, masks, and confidence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43000"/>
            <a:ext cx="658368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143000"/>
            <a:ext cx="73152" cy="65836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252728"/>
            <a:ext cx="62636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F3953"/>
                </a:solidFill>
                <a:latin typeface="Aptos Display"/>
              </a:defRPr>
            </a:pPr>
            <a:r>
              <a:rPr sz="1100" b="0">
                <a:solidFill>
                  <a:srgbClr val="445260"/>
                </a:solidFill>
                <a:latin typeface="Arial"/>
              </a:rPr>
              <a:t>rasterio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572768"/>
            <a:ext cx="62636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2A323A"/>
                </a:solidFill>
                <a:latin typeface="Aptos"/>
              </a:defRPr>
            </a:pPr>
            <a:r>
              <a:rPr sz="1050" b="0">
                <a:solidFill>
                  <a:srgbClr val="445260"/>
                </a:solidFill>
                <a:latin typeface="Arial"/>
              </a:rPr>
              <a:t>read and crop orbital layers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965960"/>
            <a:ext cx="658368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965960"/>
            <a:ext cx="73152" cy="658368"/>
          </a:xfrm>
          <a:prstGeom prst="rect">
            <a:avLst/>
          </a:prstGeom>
          <a:solidFill>
            <a:srgbClr val="1B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075688"/>
            <a:ext cx="62636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F3953"/>
                </a:solidFill>
                <a:latin typeface="Aptos Display"/>
              </a:defRPr>
            </a:pPr>
            <a:r>
              <a:rPr sz="1100" b="0">
                <a:solidFill>
                  <a:srgbClr val="445260"/>
                </a:solidFill>
                <a:latin typeface="Arial"/>
              </a:rPr>
              <a:t>numpy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395728"/>
            <a:ext cx="62636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5260"/>
                </a:solidFill>
                <a:latin typeface="Arial"/>
              </a:rPr>
              <a:t>array operations, scoring, and battery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788920"/>
            <a:ext cx="658368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788920"/>
            <a:ext cx="73152" cy="658368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2898648"/>
            <a:ext cx="62636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F3953"/>
                </a:solidFill>
                <a:latin typeface="Aptos Display"/>
              </a:defRPr>
            </a:pPr>
            <a:r>
              <a:rPr sz="1100" b="0">
                <a:solidFill>
                  <a:srgbClr val="445260"/>
                </a:solidFill>
                <a:latin typeface="Arial"/>
              </a:rPr>
              <a:t>opencv-python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218688"/>
            <a:ext cx="62636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2A323A"/>
                </a:solidFill>
                <a:latin typeface="Aptos"/>
              </a:defRPr>
            </a:pPr>
            <a:r>
              <a:rPr sz="1050" b="0">
                <a:solidFill>
                  <a:srgbClr val="445260"/>
                </a:solidFill>
                <a:latin typeface="Arial"/>
              </a:rPr>
              <a:t>vision features and local hazard masks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611879"/>
            <a:ext cx="658368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611879"/>
            <a:ext cx="73152" cy="658368"/>
          </a:xfrm>
          <a:prstGeom prst="rect">
            <a:avLst/>
          </a:prstGeom>
          <a:solidFill>
            <a:srgbClr val="CC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721607"/>
            <a:ext cx="62636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F3953"/>
                </a:solidFill>
                <a:latin typeface="Aptos Display"/>
              </a:defRPr>
            </a:pPr>
            <a:r>
              <a:rPr sz="1100" b="0">
                <a:solidFill>
                  <a:srgbClr val="445260"/>
                </a:solidFill>
                <a:latin typeface="Arial"/>
              </a:rPr>
              <a:t>gymnasium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041648"/>
            <a:ext cx="62636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5260"/>
                </a:solidFill>
                <a:latin typeface="Arial"/>
              </a:rPr>
              <a:t>state, action, reward, and constraint loop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434840"/>
            <a:ext cx="658368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434840"/>
            <a:ext cx="73152" cy="658368"/>
          </a:xfrm>
          <a:prstGeom prst="rect">
            <a:avLst/>
          </a:prstGeom>
          <a:solidFill>
            <a:srgbClr val="1F3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544568"/>
            <a:ext cx="6263640" cy="3200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F3953"/>
                </a:solidFill>
                <a:latin typeface="Aptos Display"/>
              </a:defRPr>
            </a:pPr>
            <a:r>
              <a:rPr sz="1100" b="0">
                <a:solidFill>
                  <a:srgbClr val="445260"/>
                </a:solidFill>
                <a:latin typeface="Arial"/>
              </a:rPr>
              <a:t>networkx / A*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4864608"/>
            <a:ext cx="626364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5260"/>
                </a:solidFill>
                <a:latin typeface="Arial"/>
              </a:rPr>
              <a:t>classical path baseline and energy comparison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A3A"/>
                </a:solidFill>
                <a:latin typeface="Arial"/>
              </a:rPr>
              <a:t>Final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9718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73152" cy="132588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435607"/>
            <a:ext cx="265176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2A3A"/>
                </a:solidFill>
                <a:latin typeface="Arial"/>
              </a:rPr>
              <a:t>Perception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837943"/>
            <a:ext cx="2651760" cy="70408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local safe/risky/shadowed/uncertain classes with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25880"/>
            <a:ext cx="29718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325880"/>
            <a:ext cx="73152" cy="1325880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435607"/>
            <a:ext cx="265176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2A3A"/>
                </a:solidFill>
                <a:latin typeface="Arial"/>
              </a:rPr>
              <a:t>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1837943"/>
            <a:ext cx="2651760" cy="70408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battery-aware move, scan, replan, stop, or return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25880"/>
            <a:ext cx="29718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325880"/>
            <a:ext cx="73152" cy="1325880"/>
          </a:xfrm>
          <a:prstGeom prst="rect">
            <a:avLst/>
          </a:prstGeom>
          <a:solidFill>
            <a:srgbClr val="CC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435607"/>
            <a:ext cx="265176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1837943"/>
            <a:ext cx="2651760" cy="70408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hazard exposure, energy use, path cost, success, and science return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3886200"/>
            <a:ext cx="9555480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25880" y="3886200"/>
            <a:ext cx="73152" cy="1234440"/>
          </a:xfrm>
          <a:prstGeom prst="rect">
            <a:avLst/>
          </a:prstGeom>
          <a:solidFill>
            <a:srgbClr val="1F3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3995928"/>
            <a:ext cx="923544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Together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398264"/>
            <a:ext cx="9235440" cy="61264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260"/>
                </a:solidFill>
                <a:latin typeface="Arial"/>
              </a:rPr>
              <a:t>The extension moves the digital twin from global planning toward local rover perception, constraint-aware navigation, and decision support.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F3953"/>
          </a:solidFill>
          <a:ln>
            <a:solidFill>
              <a:srgbClr val="1F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8046720" cy="41148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A3A"/>
                </a:solidFill>
                <a:latin typeface="Arial"/>
              </a:rPr>
              <a:t>Guide Review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56032"/>
            <a:ext cx="269748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F3953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493776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73152" cy="1874519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344168"/>
            <a:ext cx="461772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Problem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746504"/>
            <a:ext cx="4617720" cy="125272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Vision-Based Terrain Hazard And Confidence Detection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Focus: what the rover sees locally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Output: safe/risky/shadowed/uncertain classes with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493776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34440"/>
            <a:ext cx="73152" cy="1874519"/>
          </a:xfrm>
          <a:prstGeom prst="rect">
            <a:avLst/>
          </a:prstGeom>
          <a:solidFill>
            <a:srgbClr val="20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344168"/>
            <a:ext cx="461772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Problem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746504"/>
            <a:ext cx="4617720" cy="1252727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Battery- And Constraint-Aware Rover Navigation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Focus: local decision under battery, shadow, confidence, and compute limits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Output: energy-feasible local navigation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3977639"/>
            <a:ext cx="8321040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0240" y="3977639"/>
            <a:ext cx="73152" cy="1234440"/>
          </a:xfrm>
          <a:prstGeom prst="rect">
            <a:avLst/>
          </a:prstGeom>
          <a:solidFill>
            <a:srgbClr val="1F3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4832" y="4087368"/>
            <a:ext cx="8001000" cy="320040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3953"/>
                </a:solidFill>
                <a:latin typeface="Aptos Display"/>
              </a:defRPr>
            </a:pPr>
            <a:r>
              <a:rPr sz="1400" b="1">
                <a:solidFill>
                  <a:srgbClr val="192A3A"/>
                </a:solidFill>
                <a:latin typeface="Arial"/>
              </a:rPr>
              <a:t>Common Scientific 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2" y="4489704"/>
            <a:ext cx="8001000" cy="612648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260"/>
                </a:solidFill>
                <a:latin typeface="Arial"/>
              </a:rPr>
              <a:t>This is a simulated rover-view study from digital-twin/orbital layers for testing perception and local decision logic.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28816"/>
            <a:ext cx="11201400" cy="18288"/>
          </a:xfrm>
          <a:prstGeom prst="rect">
            <a:avLst/>
          </a:prstGeom>
          <a:solidFill>
            <a:srgbClr val="CDD5E1"/>
          </a:solidFill>
          <a:ln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56248"/>
            <a:ext cx="7315200" cy="201168"/>
          </a:xfrm>
          <a:prstGeom prst="rect">
            <a:avLst/>
          </a:prstGeom>
          <a:noFill/>
        </p:spPr>
        <p:txBody>
          <a:bodyPr wrap="square" anchor="ctr" tIns="27432" bIns="27432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5A6770"/>
                </a:solidFill>
                <a:latin typeface="Aptos"/>
              </a:defRPr>
            </a:pPr>
            <a:r>
              <a:rPr sz="850" b="0">
                <a:solidFill>
                  <a:srgbClr val="445260"/>
                </a:solidFill>
                <a:latin typeface="Arial"/>
              </a:rPr>
              <a:t>Lunar South Pole Digital Twin - Computer Vision Extension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